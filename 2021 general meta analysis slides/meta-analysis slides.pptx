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1" r:id="rId5"/>
    <p:sldId id="262" r:id="rId6"/>
    <p:sldId id="265" r:id="rId7"/>
    <p:sldId id="266" r:id="rId8"/>
    <p:sldId id="267" r:id="rId9"/>
    <p:sldId id="271" r:id="rId10"/>
    <p:sldId id="268" r:id="rId11"/>
    <p:sldId id="269" r:id="rId12"/>
    <p:sldId id="264" r:id="rId13"/>
    <p:sldId id="260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69009" autoAdjust="0"/>
  </p:normalViewPr>
  <p:slideViewPr>
    <p:cSldViewPr snapToGrid="0">
      <p:cViewPr varScale="1">
        <p:scale>
          <a:sx n="80" d="100"/>
          <a:sy n="80" d="100"/>
        </p:scale>
        <p:origin x="3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90F41-F8DE-4057-8AD9-53039535BF48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06F8-C8BA-4A4E-AB05-F829A009B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10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1468-0009.12210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i.org/10.1016/S0140-6736(15)00489-4" TargetMode="External"/><Relationship Id="rId4" Type="http://schemas.openxmlformats.org/officeDocument/2006/relationships/hyperlink" Target="https://doi.org/10.1016/S0140-6736(19)32766-7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Interesting to remember that this is all essentially happening within one generation and it’s a relatively recent development.</a:t>
            </a:r>
          </a:p>
          <a:p>
            <a:r>
              <a:rPr lang="en-GB" dirty="0"/>
              <a:t>Bayesian methods historically less popular due to no viable computational solutions in 1990s.</a:t>
            </a:r>
          </a:p>
          <a:p>
            <a:r>
              <a:rPr lang="en-GB" dirty="0"/>
              <a:t>Meta-analysis is a mature concept but there is still a lot of new work being done post 2010s: software implementations, comparisons of models, and---most important---assessment of usefulness of meta-analysis as a tool of EBM, also from institutional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F06F8-C8BA-4A4E-AB05-F829A009B26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653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Ioannidis, John P.a. ‘The Mass Production of Redundant, Misleading, and Conflicted Systematic Reviews and Meta-Analyses’. </a:t>
            </a:r>
            <a:r>
              <a:rPr lang="en-GB" i="1" dirty="0">
                <a:effectLst/>
              </a:rPr>
              <a:t>The Milbank Quarterly</a:t>
            </a:r>
            <a:r>
              <a:rPr lang="en-GB" dirty="0">
                <a:effectLst/>
              </a:rPr>
              <a:t> 94, no. 3 (2016): 485–514. </a:t>
            </a:r>
            <a:r>
              <a:rPr lang="en-GB" dirty="0">
                <a:effectLst/>
                <a:hlinkClick r:id="rId3"/>
              </a:rPr>
              <a:t>https://doi.org/10.1111/1468-0009.12210</a:t>
            </a:r>
            <a:r>
              <a:rPr lang="en-GB" dirty="0"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Horton, Richard. ‘Offline: The Gravy Train of Systematic Reviews’. </a:t>
            </a:r>
            <a:r>
              <a:rPr lang="en-GB" i="1" dirty="0">
                <a:effectLst/>
              </a:rPr>
              <a:t>The Lancet</a:t>
            </a:r>
            <a:r>
              <a:rPr lang="en-GB" dirty="0">
                <a:effectLst/>
              </a:rPr>
              <a:t> 394, no. 10211 (November 2019): 1790. </a:t>
            </a:r>
            <a:r>
              <a:rPr lang="en-GB" dirty="0">
                <a:effectLst/>
                <a:hlinkClick r:id="rId4"/>
              </a:rPr>
              <a:t>https://doi.org/10.1016/S0140-6736(19)32766-7</a:t>
            </a:r>
            <a:r>
              <a:rPr lang="en-GB" dirty="0"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Roberts, Ian, and Katharine Ker. ‘How Systematic Reviews Cause Research Waste’. </a:t>
            </a:r>
            <a:r>
              <a:rPr lang="en-GB" i="1" dirty="0">
                <a:effectLst/>
              </a:rPr>
              <a:t>The Lancet</a:t>
            </a:r>
            <a:r>
              <a:rPr lang="en-GB" dirty="0">
                <a:effectLst/>
              </a:rPr>
              <a:t> 386, no. 10003 (17 October 2015): 1536. </a:t>
            </a:r>
            <a:r>
              <a:rPr lang="en-GB" dirty="0">
                <a:effectLst/>
                <a:hlinkClick r:id="rId5"/>
              </a:rPr>
              <a:t>https://doi.org/10.1016/S0140-6736(15)00489-4</a:t>
            </a:r>
            <a:r>
              <a:rPr lang="en-GB" dirty="0">
                <a:effectLst/>
              </a:rPr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F06F8-C8BA-4A4E-AB05-F829A009B26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015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F493-7C5A-4E2B-89D8-7D5A76813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2F5CB-771E-4D68-A3CC-CF6CF7F9D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88CF6-F7AB-429D-8918-6A0D02FC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BE83-F801-4887-8A5A-A6B325C5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62272-8BDE-4C9A-8DAC-ED9B99CF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87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9855-5792-453A-85A9-C66B95C2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601AA-DC6C-4172-93E2-344AD2041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5F34-D40A-40F4-B9F5-B10362F1D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56F4-0882-416C-A59B-29B92D9A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EE167-516D-4B26-A60E-57264EBC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20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D204-13CB-4F32-A425-ADF7E30F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EBB1-0E7F-4DF7-97D1-92EC77797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06009-6CC8-41B0-9C97-C5E3BF94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590F6-5FE7-491A-9E5F-9AF0211D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F2A1-A8EF-48F2-A55F-2F257DE7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841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591C1-9D67-44A7-8D18-28CB5F8D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0FF2F-0754-4DAA-8678-E7AE8D6E3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5B345-1F8B-440E-8B40-13C04F67A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263ED-AA36-45F1-90B7-9F7E7DB0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D5429-549C-4623-A00B-6B57C783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C577D-ECA5-4FF3-9A98-C508C3C0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13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C66C-124E-4261-B15D-30A66DFD1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6086B-6CE3-4190-A58E-0872B461C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B82B6-E631-46BE-A86E-D9D7BC64E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2D9CB-ED17-4C27-9041-A0900479D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11294-8961-4046-9F1B-60A2B2DFA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921B4-143A-43E6-94A2-035858CE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C7271-86EE-4CEB-9AC9-1ACA4F63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E2B41-C63E-4D9F-9FB9-942E677B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533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8827-005F-4879-879A-3527FC2F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54159-B860-4944-9E05-98BBBEB6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25A61-A8FA-4141-9C30-4360FA0D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83EF6-4448-4228-91DB-CB681FE8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00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FEE4A-46D9-46D9-9DE4-FADB1D18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A92EB-D94F-401E-90EE-4BF29A71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6A22D-0F6D-4C37-81AD-F51AE048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76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D38E-5CED-4A5D-AC19-D605E139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DE7DC-207E-4C47-BFF4-2870E219A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E006B-E106-4E69-AE88-198602ECE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335FC-E52C-47C4-9B1B-BF83A52B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9A1E3-CFBE-4DDD-820C-6A204BA9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A3BF-36B7-408B-A47F-A4D470E8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04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778C-A898-4818-97C0-60D67FE1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EC237-2502-4AEA-B82F-F3BEB63CF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46695-2CC1-4012-88CA-8E48E0A65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FE395-67AE-4AD2-BB6B-B5A40E97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21BD6-2392-4B7F-838F-37194BBB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BC770-29C2-4D89-AD77-0C4C3274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778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8424-990E-4DBF-9039-B9704758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AF0C9-234A-4469-8A1C-5FAEDF86E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33A76-AA66-47E3-AFA7-A2A8716C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E322A-3A33-4DDA-85C6-D6BF04D02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9317-4128-40F9-96C2-9FE5FDDF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84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2D169-D004-42BB-B444-2FDF06080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D25FD-0315-4028-A2E4-7A09950A6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9F3CB-2CB8-41B9-AC54-8B55F693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CFD2E-5C2C-420F-811A-3CDBB7EA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13D09-5163-4945-979F-19E06EFD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43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D9549C-7BB5-4B20-B478-782C3E51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CAABD-3047-4B6C-9151-33E232A3E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47363-DFFC-4E11-94E4-F119E7347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99D9D-650D-49C6-90D7-07DC2DF5E154}" type="datetimeFigureOut">
              <a:rPr lang="en-GB" smtClean="0"/>
              <a:t>14/11/2021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03ACB-D0FE-4C72-9F65-C9CDCB5B8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44B47-52D0-4A5F-A30B-5EB3290E7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4EA5C-6786-4D55-8638-DCC6278128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54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isma-statement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modeling.stat.columbia.edu/2005/01/25/why_i_dont_us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FAC9-97F5-47CB-85AB-24A25D45B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 few remarks </a:t>
            </a:r>
            <a:br>
              <a:rPr lang="en-GB" dirty="0"/>
            </a:br>
            <a:r>
              <a:rPr lang="en-GB" dirty="0"/>
              <a:t>on meta-analyses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CF5E4-8850-4CEA-A206-DFA3AE2ED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Witold Wi</a:t>
            </a:r>
            <a:r>
              <a:rPr lang="pl-PL" dirty="0" err="1"/>
              <a:t>ęcek</a:t>
            </a:r>
            <a:endParaRPr lang="pl-PL" dirty="0"/>
          </a:p>
          <a:p>
            <a:endParaRPr lang="pl-PL" dirty="0"/>
          </a:p>
          <a:p>
            <a:r>
              <a:rPr lang="pl-PL" dirty="0"/>
              <a:t>15 </a:t>
            </a:r>
            <a:r>
              <a:rPr lang="pl-PL" dirty="0" err="1"/>
              <a:t>November</a:t>
            </a:r>
            <a:r>
              <a:rPr lang="pl-PL" dirty="0"/>
              <a:t> 2021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581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0DD4-F1B4-41DA-8CC1-DD69678D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6D0B-57DC-4FA1-BF13-9306F786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Cochran (1953): averaging means via inverse-variance weighting </a:t>
            </a:r>
          </a:p>
          <a:p>
            <a:pPr lvl="1"/>
            <a:r>
              <a:rPr lang="en-GB" dirty="0"/>
              <a:t>Building up from Cochran and Fisher ideas dating back to 1930s</a:t>
            </a:r>
          </a:p>
          <a:p>
            <a:r>
              <a:rPr lang="en-GB" dirty="0"/>
              <a:t>1970-1990: RCTs as basis of clinical decision-making and “evidence-based” medicine (Archie Cochrane)</a:t>
            </a:r>
          </a:p>
          <a:p>
            <a:r>
              <a:rPr lang="en-GB" dirty="0"/>
              <a:t>Glass (1976): Primary, secondary, and meta-analysis of research</a:t>
            </a:r>
          </a:p>
          <a:p>
            <a:pPr lvl="1"/>
            <a:r>
              <a:rPr lang="en-GB" dirty="0"/>
              <a:t>First time term meta-analysis used</a:t>
            </a:r>
          </a:p>
          <a:p>
            <a:pPr lvl="1"/>
            <a:r>
              <a:rPr lang="en-GB" dirty="0"/>
              <a:t>Many estimation methods established throughout 1980s</a:t>
            </a:r>
          </a:p>
          <a:p>
            <a:r>
              <a:rPr lang="en-GB" dirty="0"/>
              <a:t>Rubin (1981): Estimation in parallel experiments </a:t>
            </a:r>
          </a:p>
          <a:p>
            <a:pPr lvl="1"/>
            <a:r>
              <a:rPr lang="en-GB" dirty="0"/>
              <a:t>Bayesian hierarchical model</a:t>
            </a:r>
          </a:p>
          <a:p>
            <a:pPr lvl="1"/>
            <a:r>
              <a:rPr lang="en-GB" dirty="0"/>
              <a:t>Much rapid advance only from 1990s due to computational advances allowing for MCMC</a:t>
            </a:r>
          </a:p>
          <a:p>
            <a:r>
              <a:rPr lang="en-GB" dirty="0"/>
              <a:t>Exponential growth in number of meta-analyses since 1990s</a:t>
            </a:r>
          </a:p>
          <a:p>
            <a:pPr lvl="1"/>
            <a:r>
              <a:rPr lang="en-GB" dirty="0"/>
              <a:t>Cochrane Collaboration (1993) and Campbell Collaboration (2000): systematic reviews in health and beyond</a:t>
            </a:r>
          </a:p>
          <a:p>
            <a:pPr lvl="1"/>
            <a:r>
              <a:rPr lang="en-GB" dirty="0"/>
              <a:t>Guidelines for meta-analyses also developed in 1990s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24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1013-1AC3-4704-88F2-60C11F90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4AD4-32A2-4CD0-A3C2-8A8D247D2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Researcher degrees of freedom in (1) choice of studies, (2) building models</a:t>
            </a:r>
          </a:p>
          <a:p>
            <a:r>
              <a:rPr lang="en-GB" dirty="0"/>
              <a:t>Meta-analyses make it easy to ignore or underweight non-RCT evidence</a:t>
            </a:r>
          </a:p>
          <a:p>
            <a:r>
              <a:rPr lang="en-GB" dirty="0"/>
              <a:t>“GIGO” issues</a:t>
            </a:r>
          </a:p>
          <a:p>
            <a:pPr lvl="1"/>
            <a:r>
              <a:rPr lang="en-GB" dirty="0"/>
              <a:t>Meta-analysis of low quality (small) studies can lead to overconfidence</a:t>
            </a:r>
          </a:p>
          <a:p>
            <a:pPr lvl="1"/>
            <a:r>
              <a:rPr lang="en-GB" dirty="0"/>
              <a:t>Risk of giving extra credibility to poor research</a:t>
            </a:r>
          </a:p>
          <a:p>
            <a:pPr lvl="1"/>
            <a:r>
              <a:rPr lang="en-GB" dirty="0"/>
              <a:t>Statistical power issues also apply to meta-analyses</a:t>
            </a:r>
          </a:p>
          <a:p>
            <a:r>
              <a:rPr lang="en-GB" dirty="0"/>
              <a:t>Institutional</a:t>
            </a:r>
            <a:r>
              <a:rPr lang="pl-PL" dirty="0"/>
              <a:t> </a:t>
            </a:r>
            <a:r>
              <a:rPr lang="pl-PL" dirty="0" err="1"/>
              <a:t>critiques</a:t>
            </a:r>
            <a:endParaRPr lang="en-GB" dirty="0"/>
          </a:p>
          <a:p>
            <a:pPr lvl="1"/>
            <a:r>
              <a:rPr lang="en-GB" dirty="0"/>
              <a:t>John Ioannidis, 2016: 3% of meta-analyses are “decent and clinically useful” (speculative)</a:t>
            </a:r>
          </a:p>
          <a:p>
            <a:pPr lvl="1"/>
            <a:r>
              <a:rPr lang="en-GB" dirty="0"/>
              <a:t>Richard Horton (editor in chief, the Lancet), 2019: “Imagine if the entire edifice of knowledge in medicine was built upon a falsehood.”</a:t>
            </a:r>
          </a:p>
          <a:p>
            <a:pPr lvl="1"/>
            <a:r>
              <a:rPr lang="en-GB" b="0" i="0" dirty="0" err="1">
                <a:solidFill>
                  <a:srgbClr val="222222"/>
                </a:solidFill>
                <a:effectLst/>
                <a:latin typeface="Harding"/>
              </a:rPr>
              <a:t>Gøtzsche</a:t>
            </a:r>
            <a:r>
              <a:rPr lang="en-GB" b="0" i="0" dirty="0">
                <a:solidFill>
                  <a:srgbClr val="222222"/>
                </a:solidFill>
                <a:effectLst/>
                <a:latin typeface="Harding"/>
              </a:rPr>
              <a:t> (BMJ EBM), 2019: “The Cochrane HPV vaccine review was incomplete and ignored important evidence of bias” (only 26out of 46 trials included,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Harding"/>
              </a:rPr>
              <a:t>CoI</a:t>
            </a:r>
            <a:r>
              <a:rPr lang="en-GB" b="0" i="0" dirty="0">
                <a:solidFill>
                  <a:srgbClr val="222222"/>
                </a:solidFill>
                <a:effectLst/>
                <a:latin typeface="Harding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057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3349-219C-42CF-9641-5A25F41D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Choice of studies (quick 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7D49F-65B7-40A6-B7FE-CCBF7BCCB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Preregistration (e.g. Cochrane Library)</a:t>
            </a:r>
          </a:p>
          <a:p>
            <a:r>
              <a:rPr lang="en-GB" dirty="0"/>
              <a:t>PRISMA (checklist &amp; flow diagram) </a:t>
            </a:r>
            <a:r>
              <a:rPr lang="en-GB" dirty="0">
                <a:hlinkClick r:id="rId2"/>
              </a:rPr>
              <a:t>prisma-statement.org</a:t>
            </a:r>
            <a:endParaRPr lang="en-GB" dirty="0"/>
          </a:p>
          <a:p>
            <a:r>
              <a:rPr lang="en-GB" dirty="0"/>
              <a:t>Assessing quality of studies, risk of bias </a:t>
            </a:r>
          </a:p>
          <a:p>
            <a:pPr lvl="1"/>
            <a:r>
              <a:rPr lang="en-GB" dirty="0"/>
              <a:t>Bias: selection, attrition, performance, detection, within-study reporting</a:t>
            </a:r>
          </a:p>
          <a:p>
            <a:r>
              <a:rPr lang="en-GB" dirty="0"/>
              <a:t>Assessing (across-study) publication bias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457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A5A9-5BBB-432C-BE97-5D0D2082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Choice of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31CB7-7E48-4C64-89E1-99CB9C67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Continuous: differences between means, but how to standardise?</a:t>
            </a:r>
          </a:p>
          <a:p>
            <a:pPr lvl="1"/>
            <a:r>
              <a:rPr lang="en-GB" dirty="0"/>
              <a:t>Choice not only of outcome but also of an estimator</a:t>
            </a:r>
          </a:p>
          <a:p>
            <a:r>
              <a:rPr lang="en-GB" dirty="0"/>
              <a:t>Binary: risk difference, risk ratio, odds ratio</a:t>
            </a:r>
          </a:p>
          <a:p>
            <a:r>
              <a:rPr lang="en-GB" dirty="0"/>
              <a:t>Other types of data and statistics can also be meta-analysed</a:t>
            </a:r>
          </a:p>
          <a:p>
            <a:endParaRPr lang="en-GB" dirty="0"/>
          </a:p>
          <a:p>
            <a:r>
              <a:rPr lang="en-GB" dirty="0"/>
              <a:t>Typically model summary statistics, </a:t>
            </a:r>
          </a:p>
          <a:p>
            <a:pPr lvl="1"/>
            <a:r>
              <a:rPr lang="en-GB" dirty="0"/>
              <a:t>If individual-level data available can also do a “2-stage” approach; can help in obtaining more precise estimators from different studies</a:t>
            </a:r>
          </a:p>
          <a:p>
            <a:pPr lvl="1"/>
            <a:r>
              <a:rPr lang="en-GB" dirty="0"/>
              <a:t>Fully joint model also possible: propagation of uncertainty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162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60F9-908C-4941-A699-2FD7EB57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Role of graphical exploration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B81018-4792-4683-8ED9-C4F71F0D2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Not </a:t>
            </a:r>
            <a:r>
              <a:rPr lang="pl-PL" dirty="0" err="1"/>
              <a:t>limited</a:t>
            </a:r>
            <a:r>
              <a:rPr lang="pl-PL" dirty="0"/>
              <a:t> to </a:t>
            </a:r>
            <a:r>
              <a:rPr lang="pl-PL" dirty="0" err="1"/>
              <a:t>forest</a:t>
            </a:r>
            <a:r>
              <a:rPr lang="pl-PL" dirty="0"/>
              <a:t> </a:t>
            </a:r>
            <a:r>
              <a:rPr lang="pl-PL" dirty="0" err="1"/>
              <a:t>plots</a:t>
            </a:r>
            <a:endParaRPr lang="pl-PL" dirty="0"/>
          </a:p>
          <a:p>
            <a:r>
              <a:rPr lang="pl-PL" dirty="0" err="1"/>
              <a:t>Bubble</a:t>
            </a:r>
            <a:r>
              <a:rPr lang="pl-PL" dirty="0"/>
              <a:t> </a:t>
            </a:r>
            <a:r>
              <a:rPr lang="pl-PL" dirty="0" err="1"/>
              <a:t>plots</a:t>
            </a:r>
            <a:r>
              <a:rPr lang="pl-PL" dirty="0"/>
              <a:t>: </a:t>
            </a:r>
            <a:r>
              <a:rPr lang="pl-PL" dirty="0" err="1"/>
              <a:t>should</a:t>
            </a:r>
            <a:r>
              <a:rPr lang="pl-PL" dirty="0"/>
              <a:t> </a:t>
            </a:r>
            <a:r>
              <a:rPr lang="pl-PL" dirty="0" err="1"/>
              <a:t>covariates</a:t>
            </a:r>
            <a:r>
              <a:rPr lang="pl-PL" dirty="0"/>
              <a:t> be </a:t>
            </a:r>
            <a:r>
              <a:rPr lang="pl-PL" dirty="0" err="1"/>
              <a:t>included</a:t>
            </a:r>
            <a:r>
              <a:rPr lang="pl-PL" dirty="0"/>
              <a:t>?</a:t>
            </a:r>
          </a:p>
          <a:p>
            <a:r>
              <a:rPr lang="pl-PL" dirty="0" err="1"/>
              <a:t>L’Abbe</a:t>
            </a:r>
            <a:r>
              <a:rPr lang="pl-PL" dirty="0"/>
              <a:t> </a:t>
            </a:r>
            <a:r>
              <a:rPr lang="pl-PL" dirty="0" err="1"/>
              <a:t>plots</a:t>
            </a:r>
            <a:r>
              <a:rPr lang="pl-PL" dirty="0"/>
              <a:t>: </a:t>
            </a:r>
            <a:r>
              <a:rPr lang="pl-PL" dirty="0" err="1"/>
              <a:t>what</a:t>
            </a:r>
            <a:r>
              <a:rPr lang="pl-PL" dirty="0"/>
              <a:t> (</a:t>
            </a:r>
            <a:r>
              <a:rPr lang="pl-PL" dirty="0" err="1"/>
              <a:t>binary</a:t>
            </a:r>
            <a:r>
              <a:rPr lang="pl-PL" dirty="0"/>
              <a:t>) </a:t>
            </a:r>
            <a:r>
              <a:rPr lang="pl-PL" dirty="0" err="1"/>
              <a:t>outcome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?</a:t>
            </a:r>
          </a:p>
          <a:p>
            <a:r>
              <a:rPr lang="pl-PL" dirty="0"/>
              <a:t>Model </a:t>
            </a:r>
            <a:r>
              <a:rPr lang="pl-PL" dirty="0" err="1"/>
              <a:t>comparisons</a:t>
            </a:r>
            <a:r>
              <a:rPr lang="en-GB" dirty="0"/>
              <a:t> and robustness checks</a:t>
            </a:r>
            <a:r>
              <a:rPr lang="pl-PL" dirty="0"/>
              <a:t>: </a:t>
            </a:r>
            <a:r>
              <a:rPr lang="en-GB" dirty="0"/>
              <a:t>plot </a:t>
            </a:r>
            <a:r>
              <a:rPr lang="pl-PL" dirty="0" err="1"/>
              <a:t>differences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en-GB" dirty="0"/>
              <a:t>individual studies, mean effects, predicted effects</a:t>
            </a:r>
          </a:p>
          <a:p>
            <a:r>
              <a:rPr lang="en-GB" dirty="0"/>
              <a:t>Plotting model vs data</a:t>
            </a:r>
          </a:p>
          <a:p>
            <a:endParaRPr lang="pl-PL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855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60F9-908C-4941-A699-2FD7EB57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Graphical exploration: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3F46E7-627C-4DE2-A8DF-73C91148C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3231" y="1690688"/>
            <a:ext cx="6537123" cy="46121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DFCD1-AB93-4667-ABAC-17E6816DA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02" y="1690688"/>
            <a:ext cx="4015031" cy="426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8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560380A-7C88-4E04-8DBE-177A0E581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75" y="1140959"/>
            <a:ext cx="5905328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9160F9-908C-4941-A699-2FD7EB57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Graphical exploration: examples</a:t>
            </a:r>
          </a:p>
        </p:txBody>
      </p:sp>
    </p:spTree>
    <p:extLst>
      <p:ext uri="{BB962C8B-B14F-4D97-AF65-F5344CB8AC3E}">
        <p14:creationId xmlns:p14="http://schemas.microsoft.com/office/powerpoint/2010/main" val="2167900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FB30-C98D-4E2C-8EF6-7AEC2803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Role of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63CC-478C-4149-B4F0-5A035FD83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Robustness checks: </a:t>
            </a:r>
            <a:r>
              <a:rPr lang="en-GB" dirty="0" err="1"/>
              <a:t>resimulate</a:t>
            </a:r>
            <a:r>
              <a:rPr lang="en-GB" dirty="0"/>
              <a:t> studies and fit candidate models</a:t>
            </a:r>
          </a:p>
          <a:p>
            <a:r>
              <a:rPr lang="en-GB" dirty="0"/>
              <a:t>Publication bias: add studies to the dataset</a:t>
            </a:r>
          </a:p>
          <a:p>
            <a:r>
              <a:rPr lang="en-GB" dirty="0"/>
              <a:t>Power calculations</a:t>
            </a:r>
          </a:p>
          <a:p>
            <a:r>
              <a:rPr lang="en-GB" dirty="0"/>
              <a:t>(For Bayesian models only) posterior predictive checking</a:t>
            </a:r>
          </a:p>
        </p:txBody>
      </p:sp>
    </p:spTree>
    <p:extLst>
      <p:ext uri="{BB962C8B-B14F-4D97-AF65-F5344CB8AC3E}">
        <p14:creationId xmlns:p14="http://schemas.microsoft.com/office/powerpoint/2010/main" val="69038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9608E-E37A-4C7E-83EC-D8919EEC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Choice of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8926F-EC8F-4785-9460-D1F336844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(Typically) fixed vs random effects (partial vs full pooling) + inclusion of covariates</a:t>
            </a:r>
          </a:p>
          <a:p>
            <a:pPr lvl="1"/>
            <a:r>
              <a:rPr lang="en-GB" dirty="0"/>
              <a:t>FE vs RE terminology can be misleading and sometimes conflicting [1]</a:t>
            </a:r>
          </a:p>
          <a:p>
            <a:pPr lvl="1"/>
            <a:r>
              <a:rPr lang="en-GB" dirty="0"/>
              <a:t>Good to consider: (1) Data generating process, (2) Predictive checks (can the model replicate data?), (3) Graphical comparison, (4) Formal model comparison (LOOCV)</a:t>
            </a:r>
          </a:p>
          <a:p>
            <a:pPr lvl="1"/>
            <a:r>
              <a:rPr lang="en-GB" dirty="0"/>
              <a:t>…arguably easier in Bayesian models</a:t>
            </a:r>
          </a:p>
          <a:p>
            <a:r>
              <a:rPr lang="en-GB" dirty="0"/>
              <a:t>Bayesian vs frequentist estimate?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900" dirty="0"/>
              <a:t>[1] Andrew Gelman “</a:t>
            </a:r>
            <a:r>
              <a:rPr lang="en-GB" sz="1900" dirty="0">
                <a:hlinkClick r:id="rId2"/>
              </a:rPr>
              <a:t>Why I don’t use the term “fixed and random effects” | Statistical </a:t>
            </a:r>
            <a:r>
              <a:rPr lang="en-GB" sz="1900" dirty="0" err="1">
                <a:hlinkClick r:id="rId2"/>
              </a:rPr>
              <a:t>Modeling</a:t>
            </a:r>
            <a:r>
              <a:rPr lang="en-GB" sz="1900" dirty="0">
                <a:hlinkClick r:id="rId2"/>
              </a:rPr>
              <a:t>, Causal Inference, and Social Science (columbia.edu)</a:t>
            </a: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246131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11590-64DE-4191-84E6-EDD983CE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22F5-9A53-4872-89EC-44FD1105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Bayesian methods more technically demanding than frequentist</a:t>
            </a:r>
          </a:p>
          <a:p>
            <a:r>
              <a:rPr lang="en-GB" dirty="0"/>
              <a:t>Some cases where Bayesian models are especially useful:</a:t>
            </a:r>
          </a:p>
          <a:p>
            <a:pPr lvl="1"/>
            <a:r>
              <a:rPr lang="en-GB" dirty="0"/>
              <a:t>Regulating amount of pooling with priors, informative priors</a:t>
            </a:r>
          </a:p>
          <a:p>
            <a:pPr lvl="1"/>
            <a:r>
              <a:rPr lang="en-GB" dirty="0"/>
              <a:t>Imposing distribution of random effects (e.g. skewed)</a:t>
            </a:r>
          </a:p>
          <a:p>
            <a:pPr lvl="1"/>
            <a:r>
              <a:rPr lang="en-GB" dirty="0"/>
              <a:t>(Subjectively) easier to compare many models</a:t>
            </a:r>
          </a:p>
          <a:p>
            <a:pPr lvl="1"/>
            <a:r>
              <a:rPr lang="en-GB" dirty="0"/>
              <a:t>Using models as inputs into decision making (propagating uncertainty)</a:t>
            </a:r>
          </a:p>
          <a:p>
            <a:pPr lvl="1"/>
            <a:r>
              <a:rPr lang="en-GB" dirty="0"/>
              <a:t>Jointly modelling individual-level data</a:t>
            </a:r>
          </a:p>
          <a:p>
            <a:pPr lvl="1"/>
            <a:r>
              <a:rPr lang="en-GB" dirty="0"/>
              <a:t>Other models with complicated data generating processes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22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3EE0-E68A-43F8-A482-38B48156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meta-analyses reproducible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8B5C2-C872-4100-A239-47FECAC2C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R:</a:t>
            </a:r>
          </a:p>
          <a:p>
            <a:pPr lvl="1"/>
            <a:r>
              <a:rPr lang="en-GB" dirty="0"/>
              <a:t>Frequentist: </a:t>
            </a:r>
            <a:r>
              <a:rPr lang="en-GB" i="1" dirty="0" err="1"/>
              <a:t>metafor</a:t>
            </a:r>
            <a:r>
              <a:rPr lang="en-GB" dirty="0"/>
              <a:t>, </a:t>
            </a:r>
            <a:r>
              <a:rPr lang="en-GB" i="1" dirty="0"/>
              <a:t>meta</a:t>
            </a:r>
            <a:r>
              <a:rPr lang="en-GB" dirty="0"/>
              <a:t>, </a:t>
            </a:r>
            <a:r>
              <a:rPr lang="en-GB" i="1" dirty="0" err="1"/>
              <a:t>netmeta</a:t>
            </a:r>
            <a:endParaRPr lang="en-GB" i="1" dirty="0"/>
          </a:p>
          <a:p>
            <a:pPr lvl="1"/>
            <a:r>
              <a:rPr lang="en-GB" dirty="0"/>
              <a:t>Bayesian: </a:t>
            </a:r>
            <a:r>
              <a:rPr lang="en-GB" i="1" dirty="0"/>
              <a:t>baggr</a:t>
            </a:r>
            <a:endParaRPr lang="pl-PL" i="1" dirty="0"/>
          </a:p>
          <a:p>
            <a:r>
              <a:rPr lang="pl-PL" dirty="0" err="1"/>
              <a:t>Recent</a:t>
            </a:r>
            <a:r>
              <a:rPr lang="pl-PL" dirty="0"/>
              <a:t> software </a:t>
            </a:r>
            <a:r>
              <a:rPr lang="pl-PL" dirty="0" err="1"/>
              <a:t>advances</a:t>
            </a:r>
            <a:r>
              <a:rPr lang="pl-PL" dirty="0"/>
              <a:t> </a:t>
            </a:r>
            <a:r>
              <a:rPr lang="pl-PL" dirty="0" err="1"/>
              <a:t>make</a:t>
            </a:r>
            <a:r>
              <a:rPr lang="pl-PL" dirty="0"/>
              <a:t> </a:t>
            </a:r>
            <a:r>
              <a:rPr lang="pl-PL" dirty="0" err="1"/>
              <a:t>Bayesian</a:t>
            </a:r>
            <a:r>
              <a:rPr lang="pl-PL" dirty="0"/>
              <a:t> </a:t>
            </a:r>
            <a:r>
              <a:rPr lang="pl-PL" dirty="0" err="1"/>
              <a:t>inference</a:t>
            </a:r>
            <a:r>
              <a:rPr lang="pl-PL" dirty="0"/>
              <a:t> for meta-</a:t>
            </a:r>
            <a:r>
              <a:rPr lang="pl-PL" dirty="0" err="1"/>
              <a:t>analysis</a:t>
            </a:r>
            <a:r>
              <a:rPr lang="pl-PL" dirty="0"/>
              <a:t> </a:t>
            </a:r>
            <a:r>
              <a:rPr lang="pl-PL" dirty="0" err="1"/>
              <a:t>models</a:t>
            </a:r>
            <a:r>
              <a:rPr lang="pl-PL" dirty="0"/>
              <a:t> as </a:t>
            </a:r>
            <a:r>
              <a:rPr lang="pl-PL" dirty="0" err="1"/>
              <a:t>user-friendly</a:t>
            </a:r>
            <a:r>
              <a:rPr lang="pl-PL" dirty="0"/>
              <a:t> as </a:t>
            </a:r>
            <a:r>
              <a:rPr lang="pl-PL" dirty="0" err="1"/>
              <a:t>frequentist</a:t>
            </a:r>
            <a:r>
              <a:rPr lang="pl-PL" dirty="0"/>
              <a:t> </a:t>
            </a:r>
            <a:r>
              <a:rPr lang="pl-PL" dirty="0" err="1"/>
              <a:t>models</a:t>
            </a:r>
            <a:endParaRPr lang="pl-PL" dirty="0"/>
          </a:p>
          <a:p>
            <a:r>
              <a:rPr lang="en-GB" dirty="0"/>
              <a:t>Meta-</a:t>
            </a:r>
            <a:r>
              <a:rPr lang="pl-PL" dirty="0" err="1"/>
              <a:t>analyses</a:t>
            </a:r>
            <a:r>
              <a:rPr lang="pl-PL" dirty="0"/>
              <a:t> </a:t>
            </a:r>
            <a:r>
              <a:rPr lang="pl-PL" dirty="0" err="1"/>
              <a:t>should</a:t>
            </a:r>
            <a:r>
              <a:rPr lang="pl-PL" dirty="0"/>
              <a:t> 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pl-PL" dirty="0" err="1"/>
              <a:t>publish</a:t>
            </a:r>
            <a:r>
              <a:rPr lang="pl-PL" dirty="0"/>
              <a:t> </a:t>
            </a:r>
            <a:r>
              <a:rPr lang="pl-PL" dirty="0" err="1"/>
              <a:t>code</a:t>
            </a:r>
            <a:r>
              <a:rPr lang="en-GB" dirty="0"/>
              <a:t> (data management, model fitting, plots)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dirty="0" err="1"/>
              <a:t>include</a:t>
            </a:r>
            <a:r>
              <a:rPr lang="pl-PL" dirty="0"/>
              <a:t> </a:t>
            </a:r>
            <a:r>
              <a:rPr lang="pl-PL" dirty="0" err="1"/>
              <a:t>raw</a:t>
            </a:r>
            <a:r>
              <a:rPr lang="pl-PL" dirty="0"/>
              <a:t> data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show data in the publication (table and/or plots)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79362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A36-B56D-4EFC-8B98-FA5549D1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forms of meta-analysis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AF3C-1940-4C95-9EF3-22F48E7A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Non-exhaustive list of topics we haven’t covered: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Meta-regression / mixed models</a:t>
            </a:r>
          </a:p>
          <a:p>
            <a:r>
              <a:rPr lang="en-GB" dirty="0"/>
              <a:t>Combining individual-level and summary data</a:t>
            </a:r>
          </a:p>
          <a:p>
            <a:r>
              <a:rPr lang="en-GB" dirty="0"/>
              <a:t>Network meta-analysis (indirect evidence)</a:t>
            </a:r>
          </a:p>
          <a:p>
            <a:r>
              <a:rPr lang="en-GB" dirty="0"/>
              <a:t>Impact on multiple parameters: mean &amp; variance, quantiles, mixtures</a:t>
            </a:r>
          </a:p>
          <a:p>
            <a:r>
              <a:rPr lang="en-GB" dirty="0"/>
              <a:t>Dealing with small samples</a:t>
            </a:r>
          </a:p>
          <a:p>
            <a:r>
              <a:rPr lang="en-GB" dirty="0"/>
              <a:t>Model-based meta-analysis</a:t>
            </a:r>
          </a:p>
          <a:p>
            <a:pPr lvl="1"/>
            <a:r>
              <a:rPr lang="en-GB" dirty="0"/>
              <a:t>Parametric survival curves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Good to be familiar with at least a couple, even as illustrations of the topics we discussed.</a:t>
            </a:r>
          </a:p>
        </p:txBody>
      </p:sp>
    </p:spTree>
    <p:extLst>
      <p:ext uri="{BB962C8B-B14F-4D97-AF65-F5344CB8AC3E}">
        <p14:creationId xmlns:p14="http://schemas.microsoft.com/office/powerpoint/2010/main" val="21398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FC1B-CFD8-4670-9A31-46C3399E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800CF-B3E5-47F4-9414-5271E70C4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Simulate data</a:t>
            </a:r>
          </a:p>
          <a:p>
            <a:r>
              <a:rPr lang="en-GB" dirty="0"/>
              <a:t>Explore graphically</a:t>
            </a:r>
          </a:p>
          <a:p>
            <a:r>
              <a:rPr lang="en-GB" dirty="0"/>
              <a:t>Compare many models</a:t>
            </a:r>
          </a:p>
        </p:txBody>
      </p:sp>
    </p:spTree>
    <p:extLst>
      <p:ext uri="{BB962C8B-B14F-4D97-AF65-F5344CB8AC3E}">
        <p14:creationId xmlns:p14="http://schemas.microsoft.com/office/powerpoint/2010/main" val="237740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Widescreen</PresentationFormat>
  <Paragraphs>107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Harding</vt:lpstr>
      <vt:lpstr>Office Theme</vt:lpstr>
      <vt:lpstr>A few remarks  on meta-analyses</vt:lpstr>
      <vt:lpstr>History </vt:lpstr>
      <vt:lpstr>Critiques</vt:lpstr>
      <vt:lpstr>Choice of studies (quick summary)</vt:lpstr>
      <vt:lpstr>Choice of outcome</vt:lpstr>
      <vt:lpstr>Role of graphical exploration</vt:lpstr>
      <vt:lpstr>Graphical exploration: examples</vt:lpstr>
      <vt:lpstr>Graphical exploration: examples</vt:lpstr>
      <vt:lpstr>Role of simulation</vt:lpstr>
      <vt:lpstr>Choice of model</vt:lpstr>
      <vt:lpstr>Method of inference</vt:lpstr>
      <vt:lpstr>Making meta-analyses reproducible</vt:lpstr>
      <vt:lpstr>Other forms of meta-analysis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Witold Wiecek</dc:creator>
  <cp:lastModifiedBy>Witold Wiecek</cp:lastModifiedBy>
  <cp:revision>14</cp:revision>
  <dcterms:created xsi:type="dcterms:W3CDTF">2021-11-14T23:09:30Z</dcterms:created>
  <dcterms:modified xsi:type="dcterms:W3CDTF">2021-11-16T20:49:43Z</dcterms:modified>
</cp:coreProperties>
</file>